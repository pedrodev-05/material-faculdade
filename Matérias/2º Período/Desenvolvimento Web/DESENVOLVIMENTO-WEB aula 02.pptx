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</p:sldIdLst>
  <p:sldSz cx="12192000" cy="6858000"/>
  <p:notesSz cx="6858000" cy="12192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B0604020202020204" charset="0"/>
      <p:regular r:id="rId35"/>
    </p:embeddedFont>
    <p:embeddedFont>
      <p:font typeface="Inter Bold" panose="020B0604020202020204" charset="0"/>
      <p:regular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5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789" y="1838091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b="1" kern="0" spc="-154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Desenvolvimento</a:t>
            </a: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Web 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61475" y="3801070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22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C35518C-E05A-013D-84FE-D5DE49DA3B1F}"/>
              </a:ext>
            </a:extLst>
          </p:cNvPr>
          <p:cNvSpPr/>
          <p:nvPr/>
        </p:nvSpPr>
        <p:spPr>
          <a:xfrm>
            <a:off x="319352" y="5514506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000" b="1" kern="0" spc="-154" dirty="0">
                <a:solidFill>
                  <a:schemeClr val="bg1">
                    <a:lumMod val="65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Professor Gabriel Carvalho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440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Quando acessamos um site, encontramos: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24906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48979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Textos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424906"/>
            <a:ext cx="378014" cy="3780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77383" y="248979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Imagens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424906"/>
            <a:ext cx="378014" cy="3780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79042" y="248979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Títulos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80953"/>
            <a:ext cx="378014" cy="37802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75723" y="324584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Menus</a:t>
            </a:r>
            <a:endParaRPr lang="en-US" sz="1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3180953"/>
            <a:ext cx="378014" cy="37802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77383" y="324584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Links</a:t>
            </a:r>
            <a:endParaRPr lang="en-US" sz="18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794" y="3180953"/>
            <a:ext cx="378014" cy="37802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679042" y="324584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Formulários</a:t>
            </a:r>
            <a:endParaRPr lang="en-US" sz="18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3937000"/>
            <a:ext cx="378014" cy="378023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275723" y="4001889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Botões</a:t>
            </a:r>
            <a:endParaRPr lang="en-US" sz="1850" dirty="0"/>
          </a:p>
        </p:txBody>
      </p:sp>
      <p:sp>
        <p:nvSpPr>
          <p:cNvPr id="17" name="Shape 8"/>
          <p:cNvSpPr/>
          <p:nvPr/>
        </p:nvSpPr>
        <p:spPr>
          <a:xfrm>
            <a:off x="661475" y="4527649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482" y="4795341"/>
            <a:ext cx="236234" cy="18901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275723" y="476388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o navegador sabe que determinado conteúdo é um título, um parágrafo, uma imagem ou um link?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758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HTML?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44527"/>
            <a:ext cx="3496877" cy="17376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3258939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 = HyperText Markup Language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96289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(Linguagem de Marcação de Hipertexto)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044527"/>
            <a:ext cx="3496877" cy="17376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325893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 NÃO é uma linguagem de programação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044527"/>
            <a:ext cx="3496877" cy="17376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49247" y="325893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é uma linguagem de marcação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027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9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HTML, CSS e JavaScript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35484"/>
            <a:ext cx="3533191" cy="138132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2376" y="1478955"/>
            <a:ext cx="191289" cy="1912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9965" y="1973362"/>
            <a:ext cx="31762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839965" y="2303165"/>
            <a:ext cx="317621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203" y="1335484"/>
            <a:ext cx="3533191" cy="1381323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0104" y="1478955"/>
            <a:ext cx="191289" cy="19129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07693" y="1973362"/>
            <a:ext cx="31762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CSS</a:t>
            </a:r>
            <a:endParaRPr lang="en-US" sz="1550" dirty="0"/>
          </a:p>
        </p:txBody>
      </p:sp>
      <p:sp>
        <p:nvSpPr>
          <p:cNvPr id="10" name="Text 4"/>
          <p:cNvSpPr/>
          <p:nvPr/>
        </p:nvSpPr>
        <p:spPr>
          <a:xfrm>
            <a:off x="4507693" y="2303165"/>
            <a:ext cx="317621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Aparência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6930" y="1335484"/>
            <a:ext cx="3533191" cy="1381323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7832" y="1478955"/>
            <a:ext cx="191289" cy="19129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175420" y="1973362"/>
            <a:ext cx="31762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1550" dirty="0"/>
          </a:p>
        </p:txBody>
      </p:sp>
      <p:sp>
        <p:nvSpPr>
          <p:cNvPr id="14" name="Text 6"/>
          <p:cNvSpPr/>
          <p:nvPr/>
        </p:nvSpPr>
        <p:spPr>
          <a:xfrm>
            <a:off x="8175420" y="2303165"/>
            <a:ext cx="317621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Comportamento</a:t>
            </a:r>
            <a:endParaRPr lang="en-US" sz="1250" dirty="0"/>
          </a:p>
        </p:txBody>
      </p:sp>
      <p:sp>
        <p:nvSpPr>
          <p:cNvPr id="15" name="Text 7"/>
          <p:cNvSpPr/>
          <p:nvPr/>
        </p:nvSpPr>
        <p:spPr>
          <a:xfrm>
            <a:off x="661475" y="2918619"/>
            <a:ext cx="10868745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analogia da casa:</a:t>
            </a:r>
            <a:endParaRPr lang="en-US" sz="18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419376"/>
            <a:ext cx="797401" cy="95686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593413" y="3578820"/>
            <a:ext cx="993680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</a:t>
            </a:r>
            <a:endParaRPr lang="en-US" sz="1550" dirty="0"/>
          </a:p>
        </p:txBody>
      </p:sp>
      <p:sp>
        <p:nvSpPr>
          <p:cNvPr id="18" name="Text 9"/>
          <p:cNvSpPr/>
          <p:nvPr/>
        </p:nvSpPr>
        <p:spPr>
          <a:xfrm>
            <a:off x="1593413" y="3908623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da casa</a:t>
            </a:r>
            <a:endParaRPr lang="en-US" sz="12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75" y="4376241"/>
            <a:ext cx="797401" cy="956866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593413" y="4535686"/>
            <a:ext cx="993680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CSS</a:t>
            </a:r>
            <a:endParaRPr lang="en-US" sz="1550" dirty="0"/>
          </a:p>
        </p:txBody>
      </p:sp>
      <p:sp>
        <p:nvSpPr>
          <p:cNvPr id="21" name="Text 11"/>
          <p:cNvSpPr/>
          <p:nvPr/>
        </p:nvSpPr>
        <p:spPr>
          <a:xfrm>
            <a:off x="1593413" y="4865489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Aparência e decoração</a:t>
            </a:r>
            <a:endParaRPr lang="en-US" sz="12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475" y="5333107"/>
            <a:ext cx="797401" cy="95686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593413" y="5492552"/>
            <a:ext cx="993680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1550" dirty="0"/>
          </a:p>
        </p:txBody>
      </p:sp>
      <p:sp>
        <p:nvSpPr>
          <p:cNvPr id="24" name="Text 13"/>
          <p:cNvSpPr/>
          <p:nvPr/>
        </p:nvSpPr>
        <p:spPr>
          <a:xfrm>
            <a:off x="1593413" y="5822355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Comportamento e mecanismos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666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Pergunta para Discussão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535363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3803055"/>
            <a:ext cx="236234" cy="189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0930" y="3771602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 retirássemos todo o CSS e JavaScript de um site, ainda seria possível visualizar alguma coisa?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442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funcionam as Tags?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173163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tags HTML são o coração da estrutura de qualquer página web. Elas indicam ao navegador como interpretar e exibir o conteúdo.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61475" y="1469727"/>
            <a:ext cx="10868745" cy="488950"/>
          </a:xfrm>
          <a:prstGeom prst="roundRect">
            <a:avLst>
              <a:gd name="adj" fmla="val 1167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4487" y="1605558"/>
            <a:ext cx="1115230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&lt;p&gt;Olá, mundo!&lt;/p&gt;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8513"/>
            <a:ext cx="679235" cy="8150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8338" y="2204343"/>
            <a:ext cx="10091882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38338" y="2481560"/>
            <a:ext cx="1009188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Abertura da tag: indica o início de um elemento.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883595"/>
            <a:ext cx="679235" cy="8150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38338" y="3019425"/>
            <a:ext cx="1009188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Olá, mundo!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438338" y="3290292"/>
            <a:ext cx="1009188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Conteúdo: o texto ou outros elementos que a tag envolve.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698677"/>
            <a:ext cx="679235" cy="8150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38338" y="3834507"/>
            <a:ext cx="10091882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438338" y="4111724"/>
            <a:ext cx="10091882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Fechamento da tag: indica o fim de um elemento. Sempre tem uma barra (</a:t>
            </a:r>
            <a:r>
              <a:rPr lang="en-US" sz="1050" kern="0" spc="-2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61475" y="4623594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estrutura básica de uma tag é simples: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61475" y="4920159"/>
            <a:ext cx="10868745" cy="488950"/>
          </a:xfrm>
          <a:prstGeom prst="roundRect">
            <a:avLst>
              <a:gd name="adj" fmla="val 1167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824487" y="5055989"/>
            <a:ext cx="1115230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&lt;tag&gt;Conteúdo&lt;/tag&gt;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61475" y="5518944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Veja outro exemplo de tag de título: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61475" y="5815509"/>
            <a:ext cx="10868745" cy="488950"/>
          </a:xfrm>
          <a:prstGeom prst="roundRect">
            <a:avLst>
              <a:gd name="adj" fmla="val 1167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/>
          <p:nvPr/>
        </p:nvSpPr>
        <p:spPr>
          <a:xfrm>
            <a:off x="824487" y="5951339"/>
            <a:ext cx="1115230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&lt;h1&gt;Desenvolvimento Web&lt;/h1&gt;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80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 Básica de uma Página HTML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76685"/>
            <a:ext cx="10868745" cy="3704630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88283" y="1765697"/>
            <a:ext cx="10415129" cy="332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&lt;title&gt;Minha primeira página&lt;/title&gt;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&lt;h1&gt;Olá, mundo!&lt;/h1&gt;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&lt;p&gt;Minha primeira página HTML.&lt;/p&gt;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549394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761633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573018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 próximos slides, vamos analisar e entender cada parte desta estrutura básica de uma página HTML.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26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DOCTYPE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31306"/>
            <a:ext cx="10868745" cy="680442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88283" y="3020318"/>
            <a:ext cx="1102471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72437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 ao navegador que o documento utiliza HTML5.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239419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507111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447565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Normalmente aparece como a primeira linha do documento.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435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Tag HTML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12231"/>
            <a:ext cx="10868745" cy="680442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88283" y="2801243"/>
            <a:ext cx="1102471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505299"/>
            <a:ext cx="10868745" cy="83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representa o elemento raiz do documento.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lang="pt-BR"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 que o idioma principal da página é português do Brasil.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54808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75723" y="4609505"/>
            <a:ext cx="285117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Importância para acessibilidade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63135" y="454808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977383" y="4609505"/>
            <a:ext cx="285117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Importância para leitores de tela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64794" y="454808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679042" y="4609505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Importância para mecanismos de busca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58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Tag HEAD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41735"/>
            <a:ext cx="10868745" cy="1389063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59907" y="1507034"/>
            <a:ext cx="1047188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&lt;title&gt;Minha página&lt;/title&gt;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893516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&lt;head&gt; contém informações sobre o documento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304282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78193" y="3357959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Título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965773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78193" y="4019451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Codificação de caracteres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62726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178193" y="4680942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Metadados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5288756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78193" y="5342434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Configurações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595024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78193" y="6003925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Referências a arquivos CSS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9758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Tag BODY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1475" y="909537"/>
            <a:ext cx="10868745" cy="1656381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4879" y="1003994"/>
            <a:ext cx="10641937" cy="1561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&lt;h1&gt;Minha Loja&lt;/h1&gt;</a:t>
            </a:r>
            <a:endParaRPr lang="en-US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&lt;p&gt;Bem-vindo ao nosso site.&lt;/p&gt;</a:t>
            </a:r>
            <a:endParaRPr lang="en-US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1475" y="264880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&lt;body&gt; contém aquilo que será apresentado ao usuário.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13155" b="15193"/>
          <a:stretch>
            <a:fillRect/>
          </a:stretch>
        </p:blipFill>
        <p:spPr>
          <a:xfrm>
            <a:off x="1829238" y="3193781"/>
            <a:ext cx="8098533" cy="3264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591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8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ATIVIDADE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047055"/>
            <a:ext cx="10868745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kern="0" spc="-6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Identificando a Estrutura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661475" y="1546920"/>
            <a:ext cx="10868745" cy="2720181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7960" y="1685727"/>
            <a:ext cx="10535775" cy="2442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&lt;title&gt;Portal do Aluno&lt;/title&gt;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&lt;h1&gt;Portal Acadêmico&lt;/h1&gt;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&lt;p&gt;Consulte suas disciplinas.&lt;/p&gt;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4381698"/>
            <a:ext cx="10868745" cy="1333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6000"/>
              </a:lnSpc>
              <a:buSzPct val="100000"/>
              <a:buFont typeface="+mj-lt"/>
              <a:buAutoNum type="arabicPeriod"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linha informa que estamos utilizando HTML5?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Font typeface="+mj-lt"/>
              <a:buAutoNum type="arabicPeriod" startAt="2"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tag representa a raiz do documento?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Font typeface="+mj-lt"/>
              <a:buAutoNum type="arabicPeriod" startAt="3"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está definido o título da página?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Font typeface="+mj-lt"/>
              <a:buAutoNum type="arabicPeriod" startAt="4"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conteúdo será apresentado ao usuário?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Font typeface="+mj-lt"/>
              <a:buAutoNum type="arabicPeriod" startAt="5"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que serve o atributo lang?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Font typeface="+mj-lt"/>
              <a:buAutoNum type="arabicPeriod" startAt="6"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a função da tag &lt;body&gt;?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1475" y="5829895"/>
            <a:ext cx="10868745" cy="455414"/>
          </a:xfrm>
          <a:prstGeom prst="roundRect">
            <a:avLst>
              <a:gd name="adj" fmla="val 128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78" y="5978227"/>
            <a:ext cx="173430" cy="13880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2512" y="5966420"/>
            <a:ext cx="1088848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sugerido: 8 minutos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Títulos em HTML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09538"/>
            <a:ext cx="10868745" cy="1096169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4879" y="1003995"/>
            <a:ext cx="106419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&lt;h1&gt;Título principal&lt;/h1&gt;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&lt;h2&gt;Subtítulo&lt;/h2&gt;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&lt;h3&gt;Título nível 3&lt;/h3&gt;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&lt;h4&gt;Título nível 4&lt;/h4&gt;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&lt;h5&gt;Título nível 5&lt;/h5&gt;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&lt;h6&gt;Título nível 6&lt;/h6&gt;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205878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Existem seis níveis de títulos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61475" y="2225278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2296120"/>
            <a:ext cx="118067" cy="94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8450" y="2296120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Eles representam hierarquia de conteúdo e não apenas tamanho visual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61475" y="2528689"/>
            <a:ext cx="10868745" cy="944959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74879" y="2623145"/>
            <a:ext cx="10641937" cy="756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&lt;h1&gt;Curso de Desenvolvimento Web&lt;/h1&gt;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&lt;h2&gt;HTML&lt;/h2&gt;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&lt;h3&gt;HTML Semântico&lt;/h3&gt;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&lt;h2&gt;CSS&lt;/h2&gt;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&lt;h3&gt;Design Responsivo&lt;/h3&gt;</a:t>
            </a:r>
            <a:endParaRPr lang="en-US" sz="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408" y="3638165"/>
            <a:ext cx="5327005" cy="29965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96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10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Parágrafos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1475" y="1441748"/>
            <a:ext cx="10868745" cy="1463278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70524" y="1615976"/>
            <a:ext cx="10450648" cy="1114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é uma linguagem de marcação utilizada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 estruturar páginas Web.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3085703"/>
            <a:ext cx="10868745" cy="71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representa um parágrafo.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Veja outro exemplo: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3982641"/>
            <a:ext cx="10868745" cy="2299395"/>
          </a:xfrm>
          <a:prstGeom prst="roundRect">
            <a:avLst>
              <a:gd name="adj" fmla="val 318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70524" y="4156869"/>
            <a:ext cx="10450648" cy="1950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&lt;h1&gt;Sobre nós&lt;/h1&gt;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Somos uma empresa especializada em tecnologia.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Desenvolvemos sistemas Web e aplicativos.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077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89236"/>
            <a:ext cx="1147833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característica fundamental da Web é permitir navegação entre recursos.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1475383"/>
            <a:ext cx="10868745" cy="903883"/>
          </a:xfrm>
          <a:prstGeom prst="roundRect">
            <a:avLst>
              <a:gd name="adj" fmla="val 617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0915" y="1608237"/>
            <a:ext cx="1054986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href="https://www.google.com"&gt;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Acessar Google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484338"/>
            <a:ext cx="11478330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atributo </a:t>
            </a:r>
            <a:r>
              <a:rPr lang="en-US" sz="1000" kern="0" spc="-2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(Hypertext Reference) especifica o destino do link, podendo ser um URL externo ou um arquivo interno.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1475" y="2776835"/>
            <a:ext cx="10868745" cy="903883"/>
          </a:xfrm>
          <a:prstGeom prst="roundRect">
            <a:avLst>
              <a:gd name="adj" fmla="val 617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0915" y="2909689"/>
            <a:ext cx="1054986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href="contato.html"&gt;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Contato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1475" y="3785791"/>
            <a:ext cx="1147833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de estrutura de arquivos: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1475" y="4071938"/>
            <a:ext cx="10868745" cy="1116608"/>
          </a:xfrm>
          <a:prstGeom prst="roundRect">
            <a:avLst>
              <a:gd name="adj" fmla="val 499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0915" y="4204791"/>
            <a:ext cx="10549864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meu-site/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contato.html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sobre.html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5293618"/>
            <a:ext cx="1147833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de links de navegação: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1475" y="5579765"/>
            <a:ext cx="10868745" cy="691158"/>
          </a:xfrm>
          <a:prstGeom prst="roundRect">
            <a:avLst>
              <a:gd name="adj" fmla="val 807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0915" y="5712619"/>
            <a:ext cx="10549864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href="sobre.html"&gt;Sobre&lt;/a&gt;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1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href="contato.html"&gt;Contato&lt;/a&gt;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934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Imagens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425674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imagens são elementos visuais essenciais para qualquer página web, tornando o conteúdo mais atraente e informativo.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61542"/>
            <a:ext cx="10868745" cy="616645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6952" y="2032794"/>
            <a:ext cx="11067376" cy="274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src="computador.jpg" alt="Computador"&gt;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52812"/>
            <a:ext cx="5356786" cy="16244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7970" y="2843113"/>
            <a:ext cx="4899994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65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(source)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27970" y="3210123"/>
            <a:ext cx="4899994" cy="87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Endereço ou caminho da imagem.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 ser um URL externo ou um caminho relativo dentro do seu projeto.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3435" y="2652812"/>
            <a:ext cx="5356786" cy="16244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9930" y="2843113"/>
            <a:ext cx="4899994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r>
              <a:rPr lang="en-US" sz="165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(alternative text)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439930" y="3210123"/>
            <a:ext cx="4899994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Descrição textual da imagem.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 para a acessibilidade e SEO.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61475" y="4509988"/>
            <a:ext cx="10868745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b="1" kern="0" spc="-8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o atributo </a:t>
            </a:r>
            <a:r>
              <a:rPr lang="en-US" sz="2650" b="1" kern="0" spc="-8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r>
              <a:rPr lang="en-US" sz="2650" b="1" kern="0" spc="-8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é crucial?</a:t>
            </a:r>
            <a:endParaRPr lang="en-US" sz="2650" dirty="0"/>
          </a:p>
        </p:txBody>
      </p:sp>
      <p:sp>
        <p:nvSpPr>
          <p:cNvPr id="13" name="Shape 9"/>
          <p:cNvSpPr/>
          <p:nvPr/>
        </p:nvSpPr>
        <p:spPr>
          <a:xfrm>
            <a:off x="661475" y="5177334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02005" y="5232995"/>
            <a:ext cx="2953073" cy="790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Acessibilidade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Leitores de tela usam o texto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descrever a imagem a usuários com deficiência visual.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349046" y="5177334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4889576" y="5232995"/>
            <a:ext cx="2953073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SEO (Search Engine Optimization)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Ajuda os motores de busca a entender o conteúdo da imagem, melhorando o ranqueamento.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36617" y="5177334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8577147" y="5232995"/>
            <a:ext cx="2953073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Conteúdo Alternativo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Exibido quando a imagem não pode ser carregada (por erro de caminho, conexão lenta, etc.).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270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Completo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661475" y="1104801"/>
            <a:ext cx="10868745" cy="4724400"/>
          </a:xfrm>
          <a:prstGeom prst="roundRect">
            <a:avLst>
              <a:gd name="adj" fmla="val 11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71" y="1231801"/>
            <a:ext cx="10563953" cy="447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&lt;title&gt;Tech Cursos&lt;/title&gt;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&lt;h1&gt;Tech Cursos&lt;/h1&gt;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&lt;h2&gt;Curso de Desenvolvimento Web&lt;/h2&gt;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Aprenda HTML, CSS e JavaScript.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src="curso.jpg"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alt="Aluno estudando programação"&gt;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Conheça nossos outros cursos.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href="cursos.html"&gt;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 cursos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61475" y="5925145"/>
            <a:ext cx="10868745" cy="395486"/>
          </a:xfrm>
          <a:prstGeom prst="roundRect">
            <a:avLst>
              <a:gd name="adj" fmla="val 1348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72" y="6045398"/>
            <a:ext cx="158746" cy="12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4215" y="6042223"/>
            <a:ext cx="10938594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 próximos slides, vamos analisar cada elemento desta página.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508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8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Tags de Formatação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61475" y="1208088"/>
            <a:ext cx="10868745" cy="1831975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7960" y="1346895"/>
            <a:ext cx="10535775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&lt;strong&gt;Texto importante&lt;/strong&gt;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&lt;em&gt;Texto com ênfase&lt;/em&gt;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&lt;br&gt;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&lt;hr&gt;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&lt;mark&gt;Conteúdo importante&lt;/mark&gt;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10&lt;sup&gt;2&lt;/sup&gt;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H&lt;sub&gt;2&lt;/sub&gt;O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54660"/>
            <a:ext cx="3554919" cy="7863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5526" y="3312517"/>
            <a:ext cx="316301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&lt;strong&gt;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95526" y="3590528"/>
            <a:ext cx="316301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 forte importância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289" y="3154660"/>
            <a:ext cx="3555018" cy="7863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52340" y="3312517"/>
            <a:ext cx="3163114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&lt;em&gt;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52340" y="3590528"/>
            <a:ext cx="316311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ênfase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5202" y="3154660"/>
            <a:ext cx="3554919" cy="7863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09253" y="3312517"/>
            <a:ext cx="316301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&lt;br&gt;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209253" y="3590528"/>
            <a:ext cx="316301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quebra de linha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42866"/>
            <a:ext cx="3554919" cy="78630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5526" y="4200723"/>
            <a:ext cx="316301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&lt;hr&gt;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95526" y="4478734"/>
            <a:ext cx="316301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 horizontal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289" y="4042866"/>
            <a:ext cx="3555018" cy="78630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52340" y="4200723"/>
            <a:ext cx="3163114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&lt;mark&gt;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552340" y="4478734"/>
            <a:ext cx="316311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destaca conteúdo</a:t>
            </a:r>
            <a:endParaRPr lang="en-US" sz="10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5202" y="4042866"/>
            <a:ext cx="3554919" cy="78630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09253" y="4200723"/>
            <a:ext cx="316301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&lt;sup&gt;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8209253" y="4478734"/>
            <a:ext cx="316301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sobrescrito</a:t>
            </a:r>
            <a:endParaRPr lang="en-US" sz="10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31073"/>
            <a:ext cx="3554919" cy="78630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95526" y="5088930"/>
            <a:ext cx="316301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&lt;sub&gt;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895526" y="5366941"/>
            <a:ext cx="316301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subscrito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661475" y="5831979"/>
            <a:ext cx="10868745" cy="455414"/>
          </a:xfrm>
          <a:prstGeom prst="roundRect">
            <a:avLst>
              <a:gd name="adj" fmla="val 128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78" y="5980311"/>
            <a:ext cx="173430" cy="138807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112512" y="5968504"/>
            <a:ext cx="1088848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kern="0" spc="-2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 deve procurar representar significado, e não apenas aparência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3759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9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 Semântico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29655"/>
            <a:ext cx="10868745" cy="67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spcAft>
                <a:spcPts val="1300"/>
              </a:spcAft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página deve apenas funcionar ou sua estrutura também deve possuir significado?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semântico utiliza elementos que descrevem a função do conteúdo.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76190"/>
            <a:ext cx="420776" cy="420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984302"/>
            <a:ext cx="349796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&lt;header&gt;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475" y="3337223"/>
            <a:ext cx="349796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o cabeçalho de uma seção ou página.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6764" y="2376190"/>
            <a:ext cx="420776" cy="4207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6764" y="2984302"/>
            <a:ext cx="349806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&lt;nav&gt;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346764" y="3337223"/>
            <a:ext cx="349806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Contém links de navegação.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152" y="2376190"/>
            <a:ext cx="420776" cy="4207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32152" y="2984302"/>
            <a:ext cx="349806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&lt;section&gt;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8032152" y="3337223"/>
            <a:ext cx="349806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 conteúdo relacionado tematicamente.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91657"/>
            <a:ext cx="420776" cy="4207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4499769"/>
            <a:ext cx="349796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&lt;article&gt;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661475" y="4852690"/>
            <a:ext cx="3497969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conteúdo independente e auto-contido.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6764" y="3891657"/>
            <a:ext cx="420776" cy="42078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46764" y="4499769"/>
            <a:ext cx="349806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&lt;footer&gt;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4346764" y="4852690"/>
            <a:ext cx="349806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o rodapé de um documento ou seção.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61475" y="5530552"/>
            <a:ext cx="10868745" cy="623590"/>
          </a:xfrm>
          <a:prstGeom prst="roundRect">
            <a:avLst>
              <a:gd name="adj" fmla="val 1133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746" y="5746750"/>
            <a:ext cx="210338" cy="1682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08355" y="5722541"/>
            <a:ext cx="1076317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uso de HTML semântico melhora a acessibilidade, SEO e a manutenção do código.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690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8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 Semântica Completa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77739"/>
            <a:ext cx="4135632" cy="413573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56468" y="1277739"/>
            <a:ext cx="6380003" cy="4920853"/>
          </a:xfrm>
          <a:prstGeom prst="roundRect">
            <a:avLst>
              <a:gd name="adj" fmla="val 123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330096" y="1422400"/>
            <a:ext cx="6032746" cy="4631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&lt;header&gt;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&lt;h1&gt;Portal Tecnologia&lt;/h1&gt;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&lt;/header&gt;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 href="#"&gt;Home&lt;/a&gt;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 href="#"&gt;Cursos&lt;/a&gt;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 href="#"&gt;Contato&lt;/a&gt;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&lt;section&gt;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&lt;h2&gt;Notícias&lt;/h2&gt;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&lt;article&gt;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&lt;h3&gt;Desenvolvimento Web&lt;/h3&gt;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&lt;p&gt;Conheça as tecnologias utilizadas no desenvolvimento Web.&lt;/p&gt;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&lt;/article&gt;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&lt;/section&gt;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&lt;footer&gt;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&lt;p&gt;Portal Tecnologia - 2026&lt;/p&gt;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&lt;/footer&gt;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3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ATIVIDADE 2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Transformando uma Página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14101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Considere a seguinte estrutura de conteúdo textual para o site de uma empresa: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61475" y="1307505"/>
            <a:ext cx="10868745" cy="1247378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4879" y="1401961"/>
            <a:ext cx="1064193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da Empresa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(Home, Produtos, Contato)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 nós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Nossos Produtos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Descrição do Produto 1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Descrição do Produto 2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Copyright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260796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alunos deverão identificar quais elementos semânticos poderiam ser utilizados:</a:t>
            </a:r>
            <a:endParaRPr lang="en-US" sz="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74454"/>
            <a:ext cx="472468" cy="5670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1170" y="2868910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Nome da Empresa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81170" y="3044825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&lt;header&gt;</a:t>
            </a:r>
            <a:endParaRPr lang="en-US" sz="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341489"/>
            <a:ext cx="472468" cy="5670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1170" y="3435945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Menu (Home, Produtos, Contato)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81170" y="3611860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&lt;nav&gt;</a:t>
            </a:r>
            <a:endParaRPr lang="en-US" sz="7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08524"/>
            <a:ext cx="472468" cy="5670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1170" y="4002980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Sobre nós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81170" y="4178895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&lt;section&gt;</a:t>
            </a:r>
            <a:endParaRPr lang="en-US" sz="7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475559"/>
            <a:ext cx="472468" cy="5670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1170" y="4570016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Nossos Produtos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81170" y="4745930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&lt;section&gt;</a:t>
            </a:r>
            <a:endParaRPr lang="en-US" sz="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042595"/>
            <a:ext cx="472468" cy="56703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1170" y="5137051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Descrição do Produto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81170" y="5312966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&lt;article&gt;</a:t>
            </a:r>
            <a:endParaRPr lang="en-US" sz="7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75" y="5609630"/>
            <a:ext cx="472468" cy="56703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81170" y="5704086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Copyright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81170" y="5880001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&lt;footer&gt;</a:t>
            </a:r>
            <a:endParaRPr lang="en-US" sz="700" dirty="0"/>
          </a:p>
        </p:txBody>
      </p:sp>
      <p:sp>
        <p:nvSpPr>
          <p:cNvPr id="26" name="Text 18"/>
          <p:cNvSpPr/>
          <p:nvPr/>
        </p:nvSpPr>
        <p:spPr>
          <a:xfrm>
            <a:off x="661475" y="622974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Depois peça que os alunos transformem a estrutura em HTML.</a:t>
            </a:r>
            <a:endParaRPr lang="en-US" sz="700" dirty="0"/>
          </a:p>
        </p:txBody>
      </p:sp>
      <p:sp>
        <p:nvSpPr>
          <p:cNvPr id="27" name="Shape 19"/>
          <p:cNvSpPr/>
          <p:nvPr/>
        </p:nvSpPr>
        <p:spPr>
          <a:xfrm>
            <a:off x="661475" y="6396236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929" y="6467078"/>
            <a:ext cx="118067" cy="94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68450" y="6467078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sugerido: 10 minutos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200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kern="0" spc="-7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Tags Obsoletas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101030"/>
            <a:ext cx="10868745" cy="390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650"/>
              </a:spcAft>
              <a:buNone/>
            </a:pP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evoluiu e algumas tags antigas deixaram de ser recomendadas.</a:t>
            </a:r>
            <a:endParaRPr lang="en-US" sz="9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 de tags que se tornaram obsoletas: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574304"/>
            <a:ext cx="10868745" cy="512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&lt;center&gt;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&lt;font&gt;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&lt;marquee&gt;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1475" y="219739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Exemplos de uso antigo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2603401"/>
            <a:ext cx="10868745" cy="803176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3156" y="2721471"/>
            <a:ext cx="10585384" cy="567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&lt;center&gt;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Meu site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&lt;/center&gt;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1475" y="3489623"/>
            <a:ext cx="10868745" cy="803176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3156" y="3607693"/>
            <a:ext cx="10585384" cy="567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&lt;font color="red"&gt;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Texto vermelho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&lt;/font&gt;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1475" y="4375845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Características visuais devem ser controladas principalmente pelo CSS.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1475" y="46401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Abordagem Antiga vs. Moderna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5119985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Antiga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5387578"/>
            <a:ext cx="5290311" cy="425152"/>
          </a:xfrm>
          <a:prstGeom prst="roundRect">
            <a:avLst>
              <a:gd name="adj" fmla="val 1167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03156" y="5505648"/>
            <a:ext cx="561653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&lt;center&gt;Meu título&lt;/center&gt;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46259" y="5119985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Moderna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6259" y="5387578"/>
            <a:ext cx="5290311" cy="803176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87940" y="5505648"/>
            <a:ext cx="5006949" cy="567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&lt;h1&gt;Meu título&lt;/h1&gt;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 CSS */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 text-align: center; }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60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Separação de Responsabilidades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26753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separação de responsabilidades é um princípio fundamental no desenvolvimento web, dividindo o código em camadas distintas com propósitos específicos: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85566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579886"/>
            <a:ext cx="35023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2925167"/>
            <a:ext cx="350233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e significado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4680" y="1985566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4680" y="2579886"/>
            <a:ext cx="35023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44680" y="2925167"/>
            <a:ext cx="350233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7886" y="1985566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7886" y="2579886"/>
            <a:ext cx="35023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27886" y="2925167"/>
            <a:ext cx="350233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comportamento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61475" y="339020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Benefícios da Separação de Responsabilidades</a:t>
            </a:r>
            <a:endParaRPr lang="en-US" sz="2600" dirty="0"/>
          </a:p>
        </p:txBody>
      </p:sp>
      <p:sp>
        <p:nvSpPr>
          <p:cNvPr id="14" name="Shape 9"/>
          <p:cNvSpPr/>
          <p:nvPr/>
        </p:nvSpPr>
        <p:spPr>
          <a:xfrm>
            <a:off x="661475" y="4020641"/>
            <a:ext cx="3526444" cy="1210072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845819" y="4204990"/>
            <a:ext cx="3157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Organização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45819" y="4550271"/>
            <a:ext cx="31577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mais limpo e fácil de entender.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332576" y="4020641"/>
            <a:ext cx="3526444" cy="1210072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4516920" y="4204990"/>
            <a:ext cx="3157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Manutenção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16920" y="4550271"/>
            <a:ext cx="31577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Alterações em uma camada afetam menos as outras.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003677" y="4020641"/>
            <a:ext cx="3526444" cy="1210072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8188021" y="4204990"/>
            <a:ext cx="3157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Reutilização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188021" y="4550271"/>
            <a:ext cx="31577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podem ser facilmente reaproveitados.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61475" y="5375374"/>
            <a:ext cx="5361945" cy="962025"/>
          </a:xfrm>
          <a:prstGeom prst="roundRect">
            <a:avLst>
              <a:gd name="adj" fmla="val 722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845819" y="5559723"/>
            <a:ext cx="49932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Acessibilidade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45819" y="5905004"/>
            <a:ext cx="499325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Melhora a experiência para todos os usuários.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168077" y="5375374"/>
            <a:ext cx="5362044" cy="962025"/>
          </a:xfrm>
          <a:prstGeom prst="roundRect">
            <a:avLst>
              <a:gd name="adj" fmla="val 722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/>
          <p:nvPr/>
        </p:nvSpPr>
        <p:spPr>
          <a:xfrm>
            <a:off x="6352421" y="5559723"/>
            <a:ext cx="49933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Evolução do sistema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352421" y="5905004"/>
            <a:ext cx="49933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a adaptação a novas tecnologias e requisitos.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ATIVIDADE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151533"/>
            <a:ext cx="10868745" cy="45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8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Certo ou Ultrapassado?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61475" y="2031206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A (Antiga)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61475" y="2505869"/>
            <a:ext cx="5214609" cy="1224855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77568" y="2685951"/>
            <a:ext cx="4782423" cy="864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&lt;font color="blue"&gt;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Desenvolvimento Web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&lt;/font&gt;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1961" y="2031206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B (Moderna)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321961" y="2505869"/>
            <a:ext cx="5214609" cy="1801316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38054" y="2685951"/>
            <a:ext cx="4782423" cy="1441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&lt;h1&gt;Desenvolvimento Web&lt;/h1&gt;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CSS */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blue;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475" y="4693543"/>
            <a:ext cx="10868745" cy="756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abordagem está mais alinhada ao desenvolvimento Web atual?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Resposta esperada: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Exemplo 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5642868"/>
            <a:ext cx="10868745" cy="697508"/>
          </a:xfrm>
          <a:prstGeom prst="roundRect">
            <a:avLst>
              <a:gd name="adj" fmla="val 1084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52" y="5885954"/>
            <a:ext cx="225122" cy="18008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46752" y="5859462"/>
            <a:ext cx="1071297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abordagem moderna separa a estrutura (HTML) da apresentação (CSS)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ATIVIDADE PRINCIPAL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Minha Primeira Página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14101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foi contratado para criar a primeira versão do site de uma pequena empresa de tecnologia.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1325265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Requisitos: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1573312"/>
            <a:ext cx="10868745" cy="102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da empresa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de navegação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principal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da empresa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seção de serviços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imagem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link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rodapé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2666702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Tags a utilizar: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1475" y="2914749"/>
            <a:ext cx="11478330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HTML (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tags semânticas (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tags de cabeçalho (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etc.), parágrafo (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link (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imagem (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61475" y="3105348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 de Referência: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663" y="3575448"/>
            <a:ext cx="4843586" cy="272458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3156" y="8945959"/>
            <a:ext cx="1133664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 momento, o objetivo é construir a estrutura HTML. Não é necessário utilizar CSS.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61475" y="8892877"/>
            <a:ext cx="12700" cy="219571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409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kern="0" spc="-6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DESAFIO DE ANÁLISE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70570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Analise o seguinte código HTML: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297682"/>
            <a:ext cx="10868745" cy="2625427"/>
          </a:xfrm>
          <a:prstGeom prst="roundRect">
            <a:avLst>
              <a:gd name="adj" fmla="val 184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99683" y="1412776"/>
            <a:ext cx="10592329" cy="2395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&lt;title&gt;Minha Loja&lt;/title&gt;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&lt;center&gt;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&lt;font color="blue"&gt;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Minha Loja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&lt;/font&gt;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&lt;/center&gt;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&lt;p&gt;Bem-vindo!&lt;/p&gt;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kern="0" spc="-1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4001988"/>
            <a:ext cx="10868745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spcAft>
                <a:spcPts val="600"/>
              </a:spcAft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O código funciona?</a:t>
            </a:r>
            <a:endParaRPr lang="en-US" sz="900" dirty="0"/>
          </a:p>
          <a:p>
            <a:pPr marL="0" indent="0" algn="l">
              <a:lnSpc>
                <a:spcPct val="107000"/>
              </a:lnSpc>
              <a:spcAft>
                <a:spcPts val="600"/>
              </a:spcAft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Ele representa uma boa página HTML moderna?</a:t>
            </a:r>
            <a:endParaRPr lang="en-US" sz="9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Peça aos alunos para encontrarem os problemas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1475" y="4709716"/>
            <a:ext cx="10868745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Problemas Esperados: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1475" y="5102920"/>
            <a:ext cx="10868745" cy="118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DOCTYPE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lang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charset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utilização de &lt;center&gt;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utilização de &lt;font&gt;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estrutura semântica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mistura entre estrutura e aparência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880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8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PROPOSTA DE CORREÇÃO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61475" y="1173460"/>
            <a:ext cx="10868745" cy="3608387"/>
          </a:xfrm>
          <a:prstGeom prst="roundRect">
            <a:avLst>
              <a:gd name="adj" fmla="val 161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7960" y="1312267"/>
            <a:ext cx="10535775" cy="3330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&lt;title&gt;Minha Loja&lt;/title&gt;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&lt;header&gt;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&lt;h1&gt;Minha Loja&lt;/h1&gt;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&lt;/header&gt;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&lt;main&gt;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&lt;p&gt;Bem-vindo!&lt;/p&gt;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&lt;/main&gt;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2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1475" y="4896445"/>
            <a:ext cx="1147833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Explique que posteriormente o CSS poderá controlar cores, alinhamentos e demais elementos visuais.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203627"/>
            <a:ext cx="3554919" cy="508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5526" y="5361484"/>
            <a:ext cx="316301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DOCTYPE adicionado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289" y="5203627"/>
            <a:ext cx="3555018" cy="5082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52340" y="5361484"/>
            <a:ext cx="316311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 attribute adicionado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5202" y="5203627"/>
            <a:ext cx="3554919" cy="5082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09253" y="5361484"/>
            <a:ext cx="316301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charset adicionado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813822"/>
            <a:ext cx="3554919" cy="5082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5526" y="5971679"/>
            <a:ext cx="316301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tags semânticas utilizadas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289" y="5813822"/>
            <a:ext cx="3555018" cy="5082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52340" y="5971679"/>
            <a:ext cx="316311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separação entre estrutura e aparência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01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DISCUSSÃO FINAL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0328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Desenvolvedor A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87575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HTML pensando principalmente na aparência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70328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Desenvolvedor B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187575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HTML pensando na estrutura e significado do conteúdo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CSS para a aparência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3718421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 abordagem está mais alinhada ao desenvolvimento Web moderno? Por quê?</a:t>
            </a:r>
            <a:endParaRPr lang="en-US" sz="2950" dirty="0"/>
          </a:p>
        </p:txBody>
      </p:sp>
      <p:sp>
        <p:nvSpPr>
          <p:cNvPr id="8" name="Text 6"/>
          <p:cNvSpPr/>
          <p:nvPr/>
        </p:nvSpPr>
        <p:spPr>
          <a:xfrm>
            <a:off x="661475" y="494684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Resposta esperada: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Desenvolvedor B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5461893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729585"/>
            <a:ext cx="236234" cy="1890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5723" y="5698133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separação entre estrutura e apresentação é fundamental para código limpo, acessível e manutenível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2274</Words>
  <Application>Microsoft Office PowerPoint</Application>
  <PresentationFormat>Widescreen</PresentationFormat>
  <Paragraphs>427</Paragraphs>
  <Slides>28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Inter</vt:lpstr>
      <vt:lpstr>Inter Bold</vt:lpstr>
      <vt:lpstr>Consolas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Gabriel</dc:creator>
  <cp:lastModifiedBy>Gabriel Carvalho</cp:lastModifiedBy>
  <cp:revision>2</cp:revision>
  <dcterms:created xsi:type="dcterms:W3CDTF">2026-09-02T22:21:01Z</dcterms:created>
  <dcterms:modified xsi:type="dcterms:W3CDTF">2026-09-03T00:20:13Z</dcterms:modified>
</cp:coreProperties>
</file>
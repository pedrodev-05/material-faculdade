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78" r:id="rId25"/>
    <p:sldId id="279" r:id="rId26"/>
    <p:sldId id="280" r:id="rId27"/>
  </p:sldIdLst>
  <p:sldSz cx="12192000" cy="6858000"/>
  <p:notesSz cx="6858000" cy="121920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Inter" panose="020B0604020202020204" charset="0"/>
      <p:regular r:id="rId33"/>
    </p:embeddedFont>
    <p:embeddedFont>
      <p:font typeface="Inter Bold" panose="020B0604020202020204" charset="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12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svg"/><Relationship Id="rId18" Type="http://schemas.openxmlformats.org/officeDocument/2006/relationships/image" Target="../media/image48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42.svg"/><Relationship Id="rId17" Type="http://schemas.openxmlformats.org/officeDocument/2006/relationships/image" Target="../media/image47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5.sv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svg"/><Relationship Id="rId14" Type="http://schemas.openxmlformats.org/officeDocument/2006/relationships/image" Target="../media/image4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svg"/><Relationship Id="rId11" Type="http://schemas.openxmlformats.org/officeDocument/2006/relationships/image" Target="../media/image66.jpeg"/><Relationship Id="rId5" Type="http://schemas.openxmlformats.org/officeDocument/2006/relationships/image" Target="../media/image60.sv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3627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Desenvolvimento</a:t>
            </a: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web: HTML 5,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CSS, </a:t>
            </a:r>
            <a:r>
              <a:rPr lang="en-US" sz="5100" b="1" kern="0" spc="-154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 PHP.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61475" y="324822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Ambiente Web e a Arquitetura Cliente-Servidor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3248223"/>
            <a:ext cx="10868745" cy="287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Gabriel Carvalho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Ambiente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4" y="1064371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acontece quando acessamos um site?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21832" b="19445"/>
          <a:stretch>
            <a:fillRect/>
          </a:stretch>
        </p:blipFill>
        <p:spPr>
          <a:xfrm>
            <a:off x="661475" y="1646922"/>
            <a:ext cx="10789889" cy="35641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4" y="599444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digitamos um endereço, diversas operações acontecem nos bastidores.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376" y="5457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Contextualização: Portal Acadêmico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6754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Cenário: Um aluno acessa o portal da universidade para consultar suas notas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56832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Cliente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616722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navegador usado pelo aluno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42716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Servidor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42716" y="3616722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Computador responsável por executar a aplicação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8600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Banco de dados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8600" y="36167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onde estão armazenadas informações (alunos, disciplinas, professores, notas, faltas)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5657" y="615454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página que aparece na tela é o resultado da comunicação entre essas partes.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450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11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um Cliente?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00188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é o dispositivo ou software que solicita algum recurso ou serviço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070199"/>
            <a:ext cx="108687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kern="0" spc="-6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Exemplos de clientes:</a:t>
            </a:r>
            <a:endParaRPr lang="en-US" sz="2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93789"/>
            <a:ext cx="465126" cy="4651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5493" y="2693789"/>
            <a:ext cx="27762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Navegador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0654" y="2693789"/>
            <a:ext cx="465126" cy="4651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54672" y="2693789"/>
            <a:ext cx="27762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Aplicativo de celular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9834" y="2693789"/>
            <a:ext cx="465126" cy="4651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53851" y="2693789"/>
            <a:ext cx="277636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desktop</a:t>
            </a:r>
            <a:endParaRPr lang="en-US" sz="1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25242"/>
            <a:ext cx="465126" cy="4651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55493" y="3525242"/>
            <a:ext cx="27762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TV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0654" y="3525242"/>
            <a:ext cx="465126" cy="4651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54672" y="3525242"/>
            <a:ext cx="277627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Aplicativo de streaming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661475" y="4265116"/>
            <a:ext cx="108687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kern="0" spc="-6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Exemplos de navegadores:</a:t>
            </a:r>
            <a:endParaRPr lang="en-US" sz="2150" dirty="0"/>
          </a:p>
        </p:txBody>
      </p:sp>
      <p:sp>
        <p:nvSpPr>
          <p:cNvPr id="16" name="Shape 9"/>
          <p:cNvSpPr/>
          <p:nvPr/>
        </p:nvSpPr>
        <p:spPr>
          <a:xfrm>
            <a:off x="661475" y="4888706"/>
            <a:ext cx="2579821" cy="1416844"/>
          </a:xfrm>
          <a:prstGeom prst="roundRect">
            <a:avLst>
              <a:gd name="adj" fmla="val 551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0"/>
          <p:cNvSpPr/>
          <p:nvPr/>
        </p:nvSpPr>
        <p:spPr>
          <a:xfrm>
            <a:off x="853855" y="5081091"/>
            <a:ext cx="558191" cy="55820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7343" y="5234583"/>
            <a:ext cx="251116" cy="25112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53855" y="5822454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Chrome</a:t>
            </a:r>
            <a:endParaRPr lang="en-US" sz="1800" dirty="0"/>
          </a:p>
        </p:txBody>
      </p:sp>
      <p:sp>
        <p:nvSpPr>
          <p:cNvPr id="20" name="Shape 12"/>
          <p:cNvSpPr/>
          <p:nvPr/>
        </p:nvSpPr>
        <p:spPr>
          <a:xfrm>
            <a:off x="3424449" y="4888706"/>
            <a:ext cx="2579821" cy="1416844"/>
          </a:xfrm>
          <a:prstGeom prst="roundRect">
            <a:avLst>
              <a:gd name="adj" fmla="val 551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3"/>
          <p:cNvSpPr/>
          <p:nvPr/>
        </p:nvSpPr>
        <p:spPr>
          <a:xfrm>
            <a:off x="3616830" y="5081091"/>
            <a:ext cx="558191" cy="55820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0317" y="5234583"/>
            <a:ext cx="251116" cy="25112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616830" y="5822454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Microsoft Edge</a:t>
            </a:r>
            <a:endParaRPr lang="en-US" sz="1800" dirty="0"/>
          </a:p>
        </p:txBody>
      </p:sp>
      <p:sp>
        <p:nvSpPr>
          <p:cNvPr id="24" name="Shape 15"/>
          <p:cNvSpPr/>
          <p:nvPr/>
        </p:nvSpPr>
        <p:spPr>
          <a:xfrm>
            <a:off x="6187424" y="4888706"/>
            <a:ext cx="2579821" cy="1416844"/>
          </a:xfrm>
          <a:prstGeom prst="roundRect">
            <a:avLst>
              <a:gd name="adj" fmla="val 551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6"/>
          <p:cNvSpPr/>
          <p:nvPr/>
        </p:nvSpPr>
        <p:spPr>
          <a:xfrm>
            <a:off x="6379804" y="5081091"/>
            <a:ext cx="558191" cy="55820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3292" y="5234583"/>
            <a:ext cx="251116" cy="25112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379804" y="5822454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Mozilla Firefox</a:t>
            </a:r>
            <a:endParaRPr lang="en-US" sz="1800" dirty="0"/>
          </a:p>
        </p:txBody>
      </p:sp>
      <p:sp>
        <p:nvSpPr>
          <p:cNvPr id="28" name="Shape 18"/>
          <p:cNvSpPr/>
          <p:nvPr/>
        </p:nvSpPr>
        <p:spPr>
          <a:xfrm>
            <a:off x="8950399" y="4888706"/>
            <a:ext cx="2579821" cy="1416844"/>
          </a:xfrm>
          <a:prstGeom prst="roundRect">
            <a:avLst>
              <a:gd name="adj" fmla="val 551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19"/>
          <p:cNvSpPr/>
          <p:nvPr/>
        </p:nvSpPr>
        <p:spPr>
          <a:xfrm>
            <a:off x="9142779" y="5081091"/>
            <a:ext cx="558191" cy="55820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6267" y="5234583"/>
            <a:ext cx="251116" cy="25112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142779" y="5822454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Safari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6" y="5589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um Servidor?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6" y="13038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 é um sistema responsável por receber solicitações, processá-las e fornecer respostas.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24" y="1938836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 servidor pode disponibilizar: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1475" y="3539034"/>
            <a:ext cx="2575357" cy="693142"/>
          </a:xfrm>
          <a:prstGeom prst="roundRect">
            <a:avLst>
              <a:gd name="adj" fmla="val 114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56832" y="3734395"/>
            <a:ext cx="2184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Páginas Web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425839" y="3539034"/>
            <a:ext cx="2575456" cy="693142"/>
          </a:xfrm>
          <a:prstGeom prst="roundRect">
            <a:avLst>
              <a:gd name="adj" fmla="val 114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21195" y="3734395"/>
            <a:ext cx="21847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3539034"/>
            <a:ext cx="2575456" cy="693142"/>
          </a:xfrm>
          <a:prstGeom prst="roundRect">
            <a:avLst>
              <a:gd name="adj" fmla="val 114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385658" y="3734395"/>
            <a:ext cx="21847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954764" y="3539034"/>
            <a:ext cx="2575456" cy="693142"/>
          </a:xfrm>
          <a:prstGeom prst="roundRect">
            <a:avLst>
              <a:gd name="adj" fmla="val 114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150121" y="3734395"/>
            <a:ext cx="21847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421188"/>
            <a:ext cx="3496877" cy="995561"/>
          </a:xfrm>
          <a:prstGeom prst="roundRect">
            <a:avLst>
              <a:gd name="adj" fmla="val 797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6832" y="4616549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 de usuários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47359" y="4421188"/>
            <a:ext cx="3496877" cy="995561"/>
          </a:xfrm>
          <a:prstGeom prst="roundRect">
            <a:avLst>
              <a:gd name="adj" fmla="val 797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42716" y="4616549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de pesquisas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033244" y="4421188"/>
            <a:ext cx="3496977" cy="995561"/>
          </a:xfrm>
          <a:prstGeom prst="roundRect">
            <a:avLst>
              <a:gd name="adj" fmla="val 797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228600" y="4616549"/>
            <a:ext cx="31062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provenientes de bancos de dados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1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Exemplo: Pesquisa em Loja Virtual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0385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Cenário: Um usuário pesquisa "Notebook Gamer" em uma loja virtual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2018903"/>
            <a:ext cx="6383575" cy="37887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7124" y="4776001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CLIENTE: Exibe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307" y="4776001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SERVIDOR: Processa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14884" y="4776001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CLIENTE: Pesquisa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2029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 processo pode acontecer em poucos milissegundos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857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kern="0" spc="-6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de Duas Camadas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1006574"/>
            <a:ext cx="1147833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arquitetura de duas camadas separa o sistema basicamente em: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15529"/>
            <a:ext cx="10868745" cy="38527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8550" y="2165209"/>
            <a:ext cx="2436314" cy="601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Servidor / Camada de Dados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18550" y="2851775"/>
            <a:ext cx="2436314" cy="56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2000"/>
              </a:lnSpc>
              <a:buNone/>
            </a:pPr>
            <a:r>
              <a:rPr lang="en-US" sz="15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Armazenamento de dados, regras de negócio e processamento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22859" y="3159661"/>
            <a:ext cx="2404257" cy="300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Camada do Cliente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22859" y="3545687"/>
            <a:ext cx="2650025" cy="56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15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e lógica leve que lidam com as interações do usuário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1475" y="5001419"/>
            <a:ext cx="1147833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cliente se comunica diretamente com o servidor responsável pelos dados.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5451041"/>
            <a:ext cx="5301125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Vantagens: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55125" y="5777984"/>
            <a:ext cx="5301125" cy="457795"/>
          </a:xfrm>
          <a:prstGeom prst="rect">
            <a:avLst/>
          </a:prstGeom>
          <a:noFill/>
          <a:ln/>
        </p:spPr>
        <p:txBody>
          <a:bodyPr wrap="square" lIns="0" tIns="43711" rIns="0" bIns="0" rtlCol="0" anchor="t">
            <a:noAutofit/>
          </a:bodyPr>
          <a:lstStyle/>
          <a:p>
            <a:pPr marL="172720" indent="-172720" algn="l">
              <a:lnSpc>
                <a:spcPct val="105000"/>
              </a:lnSpc>
              <a:buSzPct val="100000"/>
              <a:buChar char="•"/>
            </a:pPr>
            <a:r>
              <a:rPr lang="en-US" sz="14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mais simples</a:t>
            </a:r>
            <a:endParaRPr lang="en-US" sz="1400" dirty="0"/>
          </a:p>
          <a:p>
            <a:pPr marL="172720" indent="-172720" algn="l">
              <a:lnSpc>
                <a:spcPct val="105000"/>
              </a:lnSpc>
              <a:buSzPct val="100000"/>
              <a:buChar char="•"/>
            </a:pPr>
            <a:r>
              <a:rPr lang="en-US" sz="14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componentes</a:t>
            </a:r>
            <a:endParaRPr lang="en-US" sz="1400" dirty="0"/>
          </a:p>
          <a:p>
            <a:pPr marL="172720" indent="-172720" algn="l">
              <a:lnSpc>
                <a:spcPct val="105000"/>
              </a:lnSpc>
              <a:buSzPct val="100000"/>
              <a:buChar char="•"/>
            </a:pPr>
            <a:r>
              <a:rPr lang="en-US" sz="14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Adequada para sistemas pequenos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35445" y="5451041"/>
            <a:ext cx="5301125" cy="204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Limitações: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29095" y="5777983"/>
            <a:ext cx="5301125" cy="1080017"/>
          </a:xfrm>
          <a:prstGeom prst="rect">
            <a:avLst/>
          </a:prstGeom>
          <a:noFill/>
          <a:ln/>
        </p:spPr>
        <p:txBody>
          <a:bodyPr wrap="square" lIns="0" tIns="43711" rIns="0" bIns="0" rtlCol="0" anchor="t">
            <a:normAutofit/>
          </a:bodyPr>
          <a:lstStyle/>
          <a:p>
            <a:pPr marL="172720" indent="-172720" algn="l">
              <a:lnSpc>
                <a:spcPct val="105000"/>
              </a:lnSpc>
              <a:buSzPct val="100000"/>
              <a:buChar char="•"/>
            </a:pPr>
            <a:r>
              <a:rPr lang="en-US" sz="14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Maior acoplamento</a:t>
            </a:r>
            <a:endParaRPr lang="en-US" sz="1400" dirty="0"/>
          </a:p>
          <a:p>
            <a:pPr marL="172720" indent="-172720" algn="l">
              <a:lnSpc>
                <a:spcPct val="105000"/>
              </a:lnSpc>
              <a:buSzPct val="100000"/>
              <a:buChar char="•"/>
            </a:pPr>
            <a:r>
              <a:rPr lang="en-US" sz="14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Manutenção pode se tornar difícil</a:t>
            </a:r>
            <a:endParaRPr lang="en-US" sz="1400" dirty="0"/>
          </a:p>
          <a:p>
            <a:pPr marL="172720" indent="-172720" algn="l">
              <a:lnSpc>
                <a:spcPct val="105000"/>
              </a:lnSpc>
              <a:buSzPct val="100000"/>
              <a:buChar char="•"/>
            </a:pPr>
            <a:r>
              <a:rPr lang="en-US" sz="14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escalabilidade</a:t>
            </a:r>
            <a:endParaRPr lang="en-US" sz="1400" dirty="0"/>
          </a:p>
          <a:p>
            <a:pPr marL="172720" indent="-172720" algn="l">
              <a:lnSpc>
                <a:spcPct val="105000"/>
              </a:lnSpc>
              <a:buSzPct val="100000"/>
              <a:buChar char="•"/>
            </a:pPr>
            <a:r>
              <a:rPr lang="en-US" sz="1400" kern="0" spc="-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pode ficar responsável por muita lógica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029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de Três Camadas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75138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das arquiteturas mais importantes para o desenvolvimento web separa a aplicação em três partes: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600" y="650572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arquitetura distribui as responsabilidades da aplicação, tornando-a mais organizada e escalável.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Exemplo: Sistema Acadêmico (3 Camadas)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7149" t="5229" r="9350" b="5675"/>
          <a:stretch>
            <a:fillRect/>
          </a:stretch>
        </p:blipFill>
        <p:spPr>
          <a:xfrm>
            <a:off x="2862841" y="1022905"/>
            <a:ext cx="6229884" cy="37392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2015" y="5198462"/>
            <a:ext cx="3528184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 de requisição: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82015" y="5587047"/>
            <a:ext cx="3528184" cy="682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APRESENTAÇÃO: Portal do aluno</a:t>
            </a:r>
            <a:endParaRPr lang="en-US" sz="1400" dirty="0"/>
          </a:p>
          <a:p>
            <a:pPr marL="142240" indent="-142240" algn="l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LÓGICA: Sistema verifica o aluno</a:t>
            </a:r>
            <a:endParaRPr lang="en-US" sz="1400" dirty="0"/>
          </a:p>
          <a:p>
            <a:pPr marL="142240" indent="-142240" algn="l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DADOS: Banco consulta as notas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09348" y="5194989"/>
            <a:ext cx="3528183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 de resposta (caminho inverso):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09348" y="5583575"/>
            <a:ext cx="3528183" cy="91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Dados</a:t>
            </a:r>
            <a:endParaRPr lang="en-US" sz="1400" dirty="0"/>
          </a:p>
          <a:p>
            <a:pPr marL="142240" indent="-142240" algn="l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</a:t>
            </a:r>
            <a:endParaRPr lang="en-US" sz="1400" dirty="0"/>
          </a:p>
          <a:p>
            <a:pPr marL="142240" indent="-142240" algn="l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Navegador</a:t>
            </a:r>
            <a:endParaRPr lang="en-US" sz="1400" dirty="0"/>
          </a:p>
          <a:p>
            <a:pPr marL="142240" indent="-142240" algn="l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Aluno visualiza as notas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492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8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de Quatro Camadas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4" y="1064907"/>
            <a:ext cx="1147833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aplicações mais estruturadas, podemos adicionar outra camada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124" y="1517253"/>
            <a:ext cx="1344976" cy="7482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80983" y="1860748"/>
            <a:ext cx="195158" cy="243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89903" y="1656060"/>
            <a:ext cx="7201514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APRESENTAÇÃO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89903" y="1934071"/>
            <a:ext cx="720151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usada pelo usuário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085726" y="2274788"/>
            <a:ext cx="7409868" cy="9525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636" y="2300089"/>
            <a:ext cx="2689951" cy="7482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80983" y="2552204"/>
            <a:ext cx="195158" cy="243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62391" y="2438896"/>
            <a:ext cx="6529026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APLICAÇÃO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862391" y="2716907"/>
            <a:ext cx="6529026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Coordena operações e solicitações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58214" y="3057624"/>
            <a:ext cx="6737380" cy="9525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148" y="3082925"/>
            <a:ext cx="4034927" cy="74820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80983" y="3335040"/>
            <a:ext cx="195158" cy="243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534879" y="3221732"/>
            <a:ext cx="5856538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REGRAS DE NEGÓCIO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534879" y="3499743"/>
            <a:ext cx="585653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as regras específicas do sistema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30702" y="3840460"/>
            <a:ext cx="6064892" cy="9525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61" y="3865761"/>
            <a:ext cx="5380002" cy="74820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280884" y="4117876"/>
            <a:ext cx="195158" cy="243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207367" y="4004568"/>
            <a:ext cx="518405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07367" y="4282579"/>
            <a:ext cx="518405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Realiza o armazenamento e a recuperação das informações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61474" y="4870301"/>
            <a:ext cx="10868745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Benefícios:</a:t>
            </a: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661475" y="5180012"/>
            <a:ext cx="10868745" cy="1480195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Organização</a:t>
            </a:r>
            <a:endParaRPr lang="en-US" sz="140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Manutenção</a:t>
            </a:r>
            <a:endParaRPr lang="en-US" sz="140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</a:t>
            </a:r>
            <a:endParaRPr lang="en-US" sz="140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Escalabilidade</a:t>
            </a:r>
            <a:endParaRPr lang="en-US" sz="140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Reutilização do código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Exemplo: Loja Virtual (4 Camadas)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Cenário: Uma compra de R$ 500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22797" b="20548"/>
          <a:stretch>
            <a:fillRect/>
          </a:stretch>
        </p:blipFill>
        <p:spPr>
          <a:xfrm>
            <a:off x="840936" y="1788383"/>
            <a:ext cx="9753356" cy="31083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20545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 Desconto aplicado automaticamente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55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HTTP: Protocolo de Transferência de Hipertexto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14215"/>
            <a:ext cx="10868745" cy="184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Web, cliente e servidor precisam seguir regras de comunicação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HTTP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Hypertext Transfer Protocol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português: Protocolo de Transferência de Hipertexto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HTTP define como mensagens são enviadas entre clientes e servidores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945235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Dois elementos fundamentais: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583113"/>
            <a:ext cx="5434373" cy="756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5528171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REQUISIÇÃO (Solicitação)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4583113"/>
            <a:ext cx="5434373" cy="756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4854" y="5528171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RESPOSTA (Resposta)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55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Requisição e Resposta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88728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REQUISIÇÃO (Solicitação)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2432149"/>
            <a:ext cx="5203794" cy="2028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cliente envia uma solicitação para o servidor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Exemplo: </a:t>
            </a:r>
            <a:r>
              <a:rPr lang="en-US" sz="1450" kern="0" spc="-3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/produtos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Significado: "Servidor, envie os produtos disponíveis"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servidor recebe essa solicitação e realiza o processamento necessário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888728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RESPOSTA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32776" y="2432149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Depois de processar a solicitação, o servidor devolve uma resposta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conceitual: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3679527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200 OK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 1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 2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 3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5257502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navegador recebe essas informações e apresenta o resultado ao usuário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9525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Ciclo de Requisição e Resposta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funcionamento básico pode ser representado da seguinte maneira: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94" y="1316329"/>
            <a:ext cx="8234697" cy="4632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349343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 processo é conhecido como: </a:t>
            </a:r>
            <a:r>
              <a:rPr lang="en-US" sz="14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Request/Response Cycle — Ciclo de Requisição e Resposta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6752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Prático: Login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Cenário: Um formulário de login com campos de E-mail, Senha e botão ENTRAR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25715" b="19613"/>
          <a:stretch>
            <a:fillRect/>
          </a:stretch>
        </p:blipFill>
        <p:spPr>
          <a:xfrm>
            <a:off x="823845" y="2418458"/>
            <a:ext cx="9753356" cy="29995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249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9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HTTP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91146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requisições HTTP podem possuir diferentes métodos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14413"/>
            <a:ext cx="5359365" cy="9821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4993" y="2001738"/>
            <a:ext cx="490852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24993" y="2354659"/>
            <a:ext cx="490852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Buscar informações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756" y="1814413"/>
            <a:ext cx="5359464" cy="9821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4274" y="2001738"/>
            <a:ext cx="490862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434274" y="2354659"/>
            <a:ext cx="490862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Enviar/criar informações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46499"/>
            <a:ext cx="5359365" cy="9821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4993" y="3133824"/>
            <a:ext cx="490852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PUT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924993" y="3486745"/>
            <a:ext cx="490852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Atualizar informações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756" y="2946499"/>
            <a:ext cx="5359464" cy="9821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34274" y="3133824"/>
            <a:ext cx="490862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DELETE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6434274" y="3486745"/>
            <a:ext cx="4908626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Excluir informações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61475" y="4153495"/>
            <a:ext cx="1086874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— Sistema de produtos: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661475" y="4693940"/>
            <a:ext cx="10868745" cy="1175544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/produtos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Consultar produtos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/produtos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Cadastrar produto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/produtos/10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Atualizar o produto 10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/produtos/10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Excluir o produto 10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61475" y="6038155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Esses métodos serão muito importantes posteriormente quando trabalharmos com APIs e aplicações Web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2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Client-Side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99902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significa: lado do cliente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aquilo que normalmente acontece no dispositivo do usuário, principalmente dentro do navegador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700834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Tecnologias fundamentais: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1475" y="3338711"/>
            <a:ext cx="3496877" cy="1857871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56832" y="353407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3689945"/>
            <a:ext cx="255085" cy="2550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6832" y="429012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4698802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da página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47359" y="3338711"/>
            <a:ext cx="3496877" cy="1857871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42716" y="353407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3689945"/>
            <a:ext cx="255085" cy="2550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2716" y="429012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CSS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4542716" y="4698802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Aparência e apresentação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033244" y="3338711"/>
            <a:ext cx="3496877" cy="1857871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228600" y="353407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4568" y="3689945"/>
            <a:ext cx="255085" cy="2550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8600" y="429012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8228600" y="4698802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Comportamento e interação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61475" y="5409208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um botão muda de aparência ao passar o mouse sobre ele, normalmente temos uma operação do lado do cliente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um menu é aberto utilizando JavaScript, também temos processamento client-side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33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Server-Side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033668"/>
            <a:ext cx="10868745" cy="51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Server-side significa: lado do servidor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onde normalmente encontramos: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376" y="1719907"/>
            <a:ext cx="10868745" cy="1596033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negócio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ao banco de dados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de permissões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3369072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Tecnologias que podem ser utilizadas: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61475" y="3794224"/>
            <a:ext cx="3552042" cy="1049040"/>
          </a:xfrm>
          <a:prstGeom prst="roundRect">
            <a:avLst>
              <a:gd name="adj" fmla="val 56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09506" y="3942259"/>
            <a:ext cx="425241" cy="425252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482" y="4059138"/>
            <a:ext cx="191289" cy="1912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9506" y="4473773"/>
            <a:ext cx="32559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19777" y="3794224"/>
            <a:ext cx="3552042" cy="1049040"/>
          </a:xfrm>
          <a:prstGeom prst="roundRect">
            <a:avLst>
              <a:gd name="adj" fmla="val 56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467808" y="3942259"/>
            <a:ext cx="425241" cy="425252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84" y="4059138"/>
            <a:ext cx="191289" cy="1912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7808" y="4473773"/>
            <a:ext cx="32559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978079" y="3794224"/>
            <a:ext cx="3552042" cy="1049040"/>
          </a:xfrm>
          <a:prstGeom prst="roundRect">
            <a:avLst>
              <a:gd name="adj" fmla="val 56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126110" y="3942259"/>
            <a:ext cx="425241" cy="425252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3086" y="4059138"/>
            <a:ext cx="191289" cy="1912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26110" y="4473773"/>
            <a:ext cx="32559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61475" y="4949527"/>
            <a:ext cx="5381193" cy="1049040"/>
          </a:xfrm>
          <a:prstGeom prst="roundRect">
            <a:avLst>
              <a:gd name="adj" fmla="val 56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809506" y="5097562"/>
            <a:ext cx="425241" cy="425252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482" y="5214441"/>
            <a:ext cx="191289" cy="19129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9506" y="5629077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C#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148928" y="4949527"/>
            <a:ext cx="5381193" cy="1049040"/>
          </a:xfrm>
          <a:prstGeom prst="roundRect">
            <a:avLst>
              <a:gd name="adj" fmla="val 567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7"/>
          <p:cNvSpPr/>
          <p:nvPr/>
        </p:nvSpPr>
        <p:spPr>
          <a:xfrm>
            <a:off x="6296959" y="5097562"/>
            <a:ext cx="425241" cy="425252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935" y="5214441"/>
            <a:ext cx="191289" cy="19129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296959" y="5629077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Node.js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61376" y="6315901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também pode ser utilizado no servidor, principalmente através de ambientes como Node.js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11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Comparação: Client-Side vs Server-Side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24323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Client-Side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3185815"/>
            <a:ext cx="5203794" cy="21449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Executado principalmente no navegador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Interação visual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524323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Server-Side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6332776" y="3185815"/>
            <a:ext cx="5203794" cy="21449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Executado no servidor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e processamento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PHP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dados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781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6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Interface Web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35070" y="921742"/>
            <a:ext cx="11478330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interface é o ponto de interação entre o usuário e o sistema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1184473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Exemplos de elementos de interface: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62980"/>
            <a:ext cx="3585279" cy="69076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2055" y="1555948"/>
            <a:ext cx="124020" cy="124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459" y="1876326"/>
            <a:ext cx="33533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Botões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3208" y="1462980"/>
            <a:ext cx="3585279" cy="690761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3788" y="1555948"/>
            <a:ext cx="124020" cy="12402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419192" y="1876326"/>
            <a:ext cx="33533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Menus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4941" y="1462980"/>
            <a:ext cx="3585279" cy="690761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5521" y="1555948"/>
            <a:ext cx="124020" cy="12402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060925" y="1876326"/>
            <a:ext cx="33533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Formulários</a:t>
            </a:r>
            <a:endParaRPr lang="en-US" sz="14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10197"/>
            <a:ext cx="3585279" cy="690761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2055" y="2303165"/>
            <a:ext cx="124020" cy="124023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777459" y="2623542"/>
            <a:ext cx="33533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Imagens</a:t>
            </a:r>
            <a:endParaRPr lang="en-US" sz="14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3208" y="2210197"/>
            <a:ext cx="3585279" cy="690761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3788" y="2303165"/>
            <a:ext cx="124020" cy="124023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4419192" y="2623542"/>
            <a:ext cx="33533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Campos de pesquisa</a:t>
            </a:r>
            <a:endParaRPr lang="en-US" sz="140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4941" y="2210197"/>
            <a:ext cx="3585279" cy="690761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75521" y="2303165"/>
            <a:ext cx="124020" cy="124023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8060925" y="2623542"/>
            <a:ext cx="335331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Links</a:t>
            </a:r>
            <a:endParaRPr lang="en-US" sz="140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957413"/>
            <a:ext cx="5406096" cy="690761"/>
          </a:xfrm>
          <a:prstGeom prst="rect">
            <a:avLst/>
          </a:prstGeom>
        </p:spPr>
      </p:pic>
      <p:pic>
        <p:nvPicPr>
          <p:cNvPr id="2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02463" y="3050381"/>
            <a:ext cx="124020" cy="124023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777459" y="3370759"/>
            <a:ext cx="51741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Cards</a:t>
            </a:r>
            <a:endParaRPr lang="en-US" sz="140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24025" y="2957413"/>
            <a:ext cx="5406195" cy="690761"/>
          </a:xfrm>
          <a:prstGeom prst="rect">
            <a:avLst/>
          </a:prstGeom>
        </p:spPr>
      </p:pic>
      <p:pic>
        <p:nvPicPr>
          <p:cNvPr id="27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65013" y="3050381"/>
            <a:ext cx="124020" cy="124023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6240009" y="3370759"/>
            <a:ext cx="51742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Tabelas</a:t>
            </a:r>
            <a:endParaRPr lang="en-US" sz="1400" dirty="0"/>
          </a:p>
        </p:txBody>
      </p:sp>
      <p:sp>
        <p:nvSpPr>
          <p:cNvPr id="29" name="Text 11"/>
          <p:cNvSpPr/>
          <p:nvPr/>
        </p:nvSpPr>
        <p:spPr>
          <a:xfrm>
            <a:off x="635070" y="3945534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 de uma boa interface:</a:t>
            </a:r>
            <a:endParaRPr lang="en-US" sz="1600" dirty="0"/>
          </a:p>
        </p:txBody>
      </p:sp>
      <p:sp>
        <p:nvSpPr>
          <p:cNvPr id="30" name="Shape 12"/>
          <p:cNvSpPr/>
          <p:nvPr/>
        </p:nvSpPr>
        <p:spPr>
          <a:xfrm>
            <a:off x="635070" y="4358090"/>
            <a:ext cx="232563" cy="232569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863" y="4396835"/>
            <a:ext cx="154976" cy="154980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924087" y="4393610"/>
            <a:ext cx="105797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Compreensível</a:t>
            </a:r>
            <a:endParaRPr lang="en-US" sz="1000" dirty="0"/>
          </a:p>
        </p:txBody>
      </p:sp>
      <p:sp>
        <p:nvSpPr>
          <p:cNvPr id="33" name="Shape 14"/>
          <p:cNvSpPr/>
          <p:nvPr/>
        </p:nvSpPr>
        <p:spPr>
          <a:xfrm>
            <a:off x="635070" y="4703669"/>
            <a:ext cx="232563" cy="232569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3863" y="4742414"/>
            <a:ext cx="154976" cy="154980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924087" y="4739189"/>
            <a:ext cx="105797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Organizada</a:t>
            </a:r>
            <a:endParaRPr lang="en-US" sz="1000" dirty="0"/>
          </a:p>
        </p:txBody>
      </p:sp>
      <p:sp>
        <p:nvSpPr>
          <p:cNvPr id="36" name="Shape 16"/>
          <p:cNvSpPr/>
          <p:nvPr/>
        </p:nvSpPr>
        <p:spPr>
          <a:xfrm>
            <a:off x="635070" y="5049248"/>
            <a:ext cx="232563" cy="232569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7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3863" y="5087993"/>
            <a:ext cx="154976" cy="154980"/>
          </a:xfrm>
          <a:prstGeom prst="rect">
            <a:avLst/>
          </a:prstGeom>
        </p:spPr>
      </p:pic>
      <p:sp>
        <p:nvSpPr>
          <p:cNvPr id="38" name="Text 17"/>
          <p:cNvSpPr/>
          <p:nvPr/>
        </p:nvSpPr>
        <p:spPr>
          <a:xfrm>
            <a:off x="924087" y="5084768"/>
            <a:ext cx="105797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Consistente</a:t>
            </a:r>
            <a:endParaRPr lang="en-US" sz="1000" dirty="0"/>
          </a:p>
        </p:txBody>
      </p:sp>
      <p:sp>
        <p:nvSpPr>
          <p:cNvPr id="39" name="Shape 18"/>
          <p:cNvSpPr/>
          <p:nvPr/>
        </p:nvSpPr>
        <p:spPr>
          <a:xfrm>
            <a:off x="635070" y="5394827"/>
            <a:ext cx="232563" cy="232569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3863" y="5433572"/>
            <a:ext cx="154976" cy="154980"/>
          </a:xfrm>
          <a:prstGeom prst="rect">
            <a:avLst/>
          </a:prstGeom>
        </p:spPr>
      </p:pic>
      <p:sp>
        <p:nvSpPr>
          <p:cNvPr id="41" name="Text 19"/>
          <p:cNvSpPr/>
          <p:nvPr/>
        </p:nvSpPr>
        <p:spPr>
          <a:xfrm>
            <a:off x="924087" y="5430347"/>
            <a:ext cx="105797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Acessível</a:t>
            </a:r>
            <a:endParaRPr lang="en-US" sz="1000" dirty="0"/>
          </a:p>
        </p:txBody>
      </p:sp>
      <p:sp>
        <p:nvSpPr>
          <p:cNvPr id="42" name="Shape 20"/>
          <p:cNvSpPr/>
          <p:nvPr/>
        </p:nvSpPr>
        <p:spPr>
          <a:xfrm>
            <a:off x="635070" y="5740406"/>
            <a:ext cx="232563" cy="232569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3" name="Image 2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3863" y="5779151"/>
            <a:ext cx="154976" cy="154980"/>
          </a:xfrm>
          <a:prstGeom prst="rect">
            <a:avLst/>
          </a:prstGeom>
        </p:spPr>
      </p:pic>
      <p:sp>
        <p:nvSpPr>
          <p:cNvPr id="44" name="Text 21"/>
          <p:cNvSpPr/>
          <p:nvPr/>
        </p:nvSpPr>
        <p:spPr>
          <a:xfrm>
            <a:off x="924087" y="5775926"/>
            <a:ext cx="105797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Adaptável</a:t>
            </a:r>
            <a:endParaRPr lang="en-US" sz="1000" dirty="0"/>
          </a:p>
        </p:txBody>
      </p:sp>
      <p:sp>
        <p:nvSpPr>
          <p:cNvPr id="45" name="Shape 22"/>
          <p:cNvSpPr/>
          <p:nvPr/>
        </p:nvSpPr>
        <p:spPr>
          <a:xfrm>
            <a:off x="635070" y="6085985"/>
            <a:ext cx="232563" cy="232569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6" name="Image 2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3863" y="6124730"/>
            <a:ext cx="154976" cy="154980"/>
          </a:xfrm>
          <a:prstGeom prst="rect">
            <a:avLst/>
          </a:prstGeom>
        </p:spPr>
      </p:pic>
      <p:sp>
        <p:nvSpPr>
          <p:cNvPr id="47" name="Text 23"/>
          <p:cNvSpPr/>
          <p:nvPr/>
        </p:nvSpPr>
        <p:spPr>
          <a:xfrm>
            <a:off x="924087" y="6121505"/>
            <a:ext cx="1057972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Fácil de utilizar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455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Problema dos Diferentes Dispositivos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13160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criar uma página que funcione adequadamente em telas de tamanhos diferentes?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764109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Dispositivos onde uma página Web pode ser acessada: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78063"/>
            <a:ext cx="406092" cy="406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858591"/>
            <a:ext cx="350660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Smartphone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2498" y="2278063"/>
            <a:ext cx="406092" cy="4061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2498" y="2858591"/>
            <a:ext cx="350660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Tablet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3520" y="2278063"/>
            <a:ext cx="406092" cy="4061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23520" y="2858591"/>
            <a:ext cx="350670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Notebook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91495"/>
            <a:ext cx="406092" cy="4061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3972024"/>
            <a:ext cx="350660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Desktop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2498" y="3391495"/>
            <a:ext cx="406092" cy="4061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2498" y="3972024"/>
            <a:ext cx="350660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TV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661425" y="4566047"/>
            <a:ext cx="10868745" cy="70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13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Solução: DESIGN RESPONSIVO</a:t>
            </a:r>
            <a:endParaRPr lang="en-US" sz="3200" dirty="0"/>
          </a:p>
        </p:txBody>
      </p:sp>
      <p:sp>
        <p:nvSpPr>
          <p:cNvPr id="16" name="Text 9"/>
          <p:cNvSpPr/>
          <p:nvPr/>
        </p:nvSpPr>
        <p:spPr>
          <a:xfrm>
            <a:off x="661475" y="5345013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responsivo é uma abordagem que permite adaptar a interface de acordo com características da tela e do dispositivo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61475" y="5743575"/>
            <a:ext cx="10868745" cy="587871"/>
          </a:xfrm>
          <a:prstGeom prst="roundRect">
            <a:avLst>
              <a:gd name="adj" fmla="val 1160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892" y="5946577"/>
            <a:ext cx="202996" cy="16242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9305" y="5923657"/>
            <a:ext cx="1078808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objetivo não é simplesmente 'diminuir' o site. É reorganizar a experiência de acordo com o espaço disponível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013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Layout Fluido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75391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layout fluido utiliza medidas que podem se adaptar ao espaço disponível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6" y="1076027"/>
            <a:ext cx="5115482" cy="932235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4879" y="1170483"/>
            <a:ext cx="5008733" cy="734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width: 80%;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4213" y="2236996"/>
            <a:ext cx="7502837" cy="1192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vez de determinar: </a:t>
            </a:r>
            <a:r>
              <a:rPr lang="en-US" sz="1600" kern="0" spc="-15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width: 1000px;</a:t>
            </a:r>
            <a:endParaRPr lang="en-US" sz="16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Podemos trabalhar com: </a:t>
            </a:r>
            <a:r>
              <a:rPr lang="en-US" sz="1600" kern="0" spc="-15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width: 80%;</a:t>
            </a:r>
            <a:endParaRPr lang="en-US" sz="16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Assim, o tamanho do elemento pode variar conforme o espaço disponível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Outras unidades utilizadas atualmente incluem: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214" y="3465943"/>
            <a:ext cx="5115482" cy="1332728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vh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</a:t>
            </a:r>
            <a:endParaRPr lang="en-US" sz="16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33752479-B9A4-65A7-64CA-AD2E05E87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912" y="1008404"/>
            <a:ext cx="9801635" cy="5513557"/>
          </a:xfrm>
          <a:prstGeom prst="rect">
            <a:avLst/>
          </a:prstGeom>
        </p:spPr>
      </p:pic>
      <p:sp>
        <p:nvSpPr>
          <p:cNvPr id="3" name="Text 6">
            <a:extLst>
              <a:ext uri="{FF2B5EF4-FFF2-40B4-BE49-F238E27FC236}">
                <a16:creationId xmlns:a16="http://schemas.microsoft.com/office/drawing/2014/main" id="{478515A8-902B-1327-612C-F952D41C5F7D}"/>
              </a:ext>
            </a:extLst>
          </p:cNvPr>
          <p:cNvSpPr/>
          <p:nvPr/>
        </p:nvSpPr>
        <p:spPr>
          <a:xfrm>
            <a:off x="2426349" y="1152217"/>
            <a:ext cx="1742803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Fixed web layout</a:t>
            </a:r>
            <a:endParaRPr lang="en-US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5165E3AD-7383-26D2-F091-2AD7DC11FAEE}"/>
              </a:ext>
            </a:extLst>
          </p:cNvPr>
          <p:cNvSpPr/>
          <p:nvPr/>
        </p:nvSpPr>
        <p:spPr>
          <a:xfrm>
            <a:off x="1821793" y="1517215"/>
            <a:ext cx="2980412" cy="233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9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a website container with a static width that remains the same regardless of screen size.</a:t>
            </a:r>
            <a:endParaRPr lang="en-US" sz="95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0D845462-0767-89D8-1788-4A2289EA2FD1}"/>
              </a:ext>
            </a:extLst>
          </p:cNvPr>
          <p:cNvSpPr/>
          <p:nvPr/>
        </p:nvSpPr>
        <p:spPr>
          <a:xfrm>
            <a:off x="7246031" y="1152217"/>
            <a:ext cx="1675291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kern="0" spc="-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Fluid web layout</a:t>
            </a:r>
            <a:endParaRPr lang="en-US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D331832-A85A-F37A-CF75-1D986A107AD1}"/>
              </a:ext>
            </a:extLst>
          </p:cNvPr>
          <p:cNvSpPr/>
          <p:nvPr/>
        </p:nvSpPr>
        <p:spPr>
          <a:xfrm>
            <a:off x="6263685" y="1520110"/>
            <a:ext cx="3618800" cy="37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0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a website container with a dynamic width (e.g., 80%) that scales and adapts to different screen sizes, demonstrating responsiveness.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94460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23159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Media Query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77406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Query é um recurso do CSS que permite aplicar estilos dependendo das características da tela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1076027"/>
            <a:ext cx="10868745" cy="1890118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4879" y="1170483"/>
            <a:ext cx="10641937" cy="179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font-size: 18px;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{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font-size: 14px;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15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3" y="301922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Explicação do exemplo: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3" y="3185716"/>
            <a:ext cx="10868745" cy="243284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maior → fonte 18px</a:t>
            </a:r>
            <a:endParaRPr lang="en-US" sz="14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até 600px → fonte 14px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607" y="3379832"/>
            <a:ext cx="5260761" cy="29592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0871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de Responsividade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81159" y="1000488"/>
            <a:ext cx="5588949" cy="136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kern="0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</a:t>
            </a: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smartphone: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PRODUTO 1 ]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PRODUTO 2 ]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PRODUTO 3 ]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conteúdo continua sendo o mesmo. O que muda é sua organização visual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772" y="2451773"/>
            <a:ext cx="9231330" cy="38207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8550" y="3493323"/>
            <a:ext cx="1756366" cy="60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Layout no Computador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18550" y="4181429"/>
            <a:ext cx="1756366" cy="36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cards exibidos lado a lado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507607" y="3493323"/>
            <a:ext cx="1756366" cy="60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Layout no Smartphone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507607" y="4181429"/>
            <a:ext cx="1756366" cy="54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Mesmos três cards empilhados verticalmente</a:t>
            </a:r>
            <a:endParaRPr lang="en-US" sz="15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70A3DA-E811-C7B9-3E20-EB2014D61745}"/>
              </a:ext>
            </a:extLst>
          </p:cNvPr>
          <p:cNvSpPr txBox="1"/>
          <p:nvPr/>
        </p:nvSpPr>
        <p:spPr>
          <a:xfrm>
            <a:off x="544794" y="937814"/>
            <a:ext cx="6097424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kern="0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</a:t>
            </a: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Imagine </a:t>
            </a:r>
            <a:r>
              <a:rPr lang="en-US" sz="1400" kern="0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</a:t>
            </a: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kern="0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produtos</a:t>
            </a: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kern="0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apresentados</a:t>
            </a: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</a:t>
            </a:r>
            <a:r>
              <a:rPr lang="en-US" sz="1400" kern="0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computador</a:t>
            </a:r>
            <a:endParaRPr lang="en-US" sz="14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PRODUTO 1 ] [ PRODUTO 2 ] [ PRODUTO 3 ]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Atividade: Analisando o Ciclo de uma Aplicação Web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Situação-problema: Um usuário acessa uma loja virtual e pesquisa: Mouse Gamer. O sistema apresenta diversos produtos. O usuário seleciona um produto e adiciona ao carrinho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1093788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Tarefa: Construa o fluxo completo identificando: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341834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5964" y="1412677"/>
            <a:ext cx="141681" cy="1416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5929" y="1672530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19461" y="1341834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3951" y="1412677"/>
            <a:ext cx="141681" cy="1416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3915" y="1672530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Servidor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61475" y="1961852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5964" y="2032695"/>
            <a:ext cx="141681" cy="1416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5929" y="2292548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Request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6119461" y="1961852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3951" y="2032695"/>
            <a:ext cx="141681" cy="1416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13915" y="2292548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61475" y="2581870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95964" y="2652713"/>
            <a:ext cx="141681" cy="1416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55929" y="2912566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 de dados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119461" y="2581870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3951" y="2652713"/>
            <a:ext cx="141681" cy="1416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213915" y="2912566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Response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661475" y="3201888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95964" y="3272730"/>
            <a:ext cx="141681" cy="14168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55929" y="3532584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Operações client-side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6119461" y="3201888"/>
            <a:ext cx="5410759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53951" y="3272730"/>
            <a:ext cx="141681" cy="14168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213915" y="3532584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Operações server-side</a:t>
            </a:r>
            <a:endParaRPr lang="en-US" sz="9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475" y="3827760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1329</Words>
  <Application>Microsoft Office PowerPoint</Application>
  <PresentationFormat>Widescreen</PresentationFormat>
  <Paragraphs>297</Paragraphs>
  <Slides>26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Inter</vt:lpstr>
      <vt:lpstr>Consolas</vt:lpstr>
      <vt:lpstr>Inter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Gabriel_quarto</dc:creator>
  <cp:lastModifiedBy>Gabriel Carvalho</cp:lastModifiedBy>
  <cp:revision>4</cp:revision>
  <dcterms:created xsi:type="dcterms:W3CDTF">2026-08-26T20:41:16Z</dcterms:created>
  <dcterms:modified xsi:type="dcterms:W3CDTF">2026-08-26T22:06:45Z</dcterms:modified>
</cp:coreProperties>
</file>